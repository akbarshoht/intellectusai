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54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/>
          </a:prstGeom>
          <a:ln w="12700">
            <a:solidFill>
              <a:srgbClr val="2F6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presentations</a:t>
            </a:r>
            <a:endParaRPr lang="en-US" sz="6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66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1440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professor spends grading a single student presentation.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 </a:t>
            </a:r>
            <a:r>
              <a:rPr lang="en-US" sz="3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gives in a single year.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feedback isn't even good.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2852928"/>
            <a:ext cx="201168" cy="201168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days for a grade they've already forgotten the speech for.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904488"/>
            <a:ext cx="201168" cy="201168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professors give the same talk two different scores.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956048"/>
            <a:ext cx="201168" cy="201168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0" y="4800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job, work on fluency” — but how, and where?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presentation could </a:t>
            </a:r>
            <a:r>
              <a:rPr lang="en-US" sz="52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itself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/>
          </a:prstGeom>
          <a:ln w="12700">
            <a:solidFill>
              <a:srgbClr val="2F6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Intellectus</a:t>
            </a:r>
            <a:r>
              <a:rPr lang="en-US" sz="96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presentation examiner.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Seconds, not days.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4688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3246120"/>
            <a:ext cx="777240" cy="7772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record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356616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9DF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09160" y="24688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3246120"/>
            <a:ext cx="777240" cy="7772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7492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10728" y="356616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9DFF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503920" y="24688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3246120"/>
            <a:ext cx="777240" cy="7772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86968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report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46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assessment needs — covered.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3931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delivery, content and structure — scored together, in one pass.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5960" y="1051560"/>
            <a:ext cx="8229600" cy="4572000"/>
          </a:xfrm>
          <a:prstGeom prst="roundRect">
            <a:avLst>
              <a:gd name="adj" fmla="val 2000"/>
            </a:avLst>
          </a:prstGeom>
          <a:solidFill>
            <a:srgbClr val="0F1013"/>
          </a:solidFill>
          <a:ln w="15875">
            <a:solidFill>
              <a:srgbClr val="2F6F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65960" y="1051560"/>
            <a:ext cx="8229600" cy="384048"/>
          </a:xfrm>
          <a:prstGeom prst="rect">
            <a:avLst/>
          </a:prstGeom>
          <a:solidFill>
            <a:srgbClr val="1A1C20"/>
          </a:solidFill>
          <a:ln/>
        </p:spPr>
      </p:sp>
      <p:sp>
        <p:nvSpPr>
          <p:cNvPr id="4" name="Shape 2"/>
          <p:cNvSpPr/>
          <p:nvPr/>
        </p:nvSpPr>
        <p:spPr>
          <a:xfrm>
            <a:off x="2167128" y="1170432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Shape 3"/>
          <p:cNvSpPr/>
          <p:nvPr/>
        </p:nvSpPr>
        <p:spPr>
          <a:xfrm>
            <a:off x="2441448" y="1170432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Shape 4"/>
          <p:cNvSpPr/>
          <p:nvPr/>
        </p:nvSpPr>
        <p:spPr>
          <a:xfrm>
            <a:off x="2715768" y="1170432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435608"/>
            <a:ext cx="8229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live.</a:t>
            </a:r>
            <a:endParaRPr lang="en-US" sz="5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2402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2514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280160" y="3840480"/>
            <a:ext cx="411480" cy="109728"/>
          </a:xfrm>
          <a:prstGeom prst="rect">
            <a:avLst/>
          </a:prstGeom>
          <a:solidFill>
            <a:srgbClr val="5B9DFF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returned to teaching.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22402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514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074920" y="3840480"/>
            <a:ext cx="411480" cy="109728"/>
          </a:xfrm>
          <a:prstGeom prst="rect">
            <a:avLst/>
          </a:prstGeom>
          <a:solidFill>
            <a:srgbClr val="5B9D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fair standard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rubric for every student.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22402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514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8869680" y="3840480"/>
            <a:ext cx="411480" cy="109728"/>
          </a:xfrm>
          <a:prstGeom prst="rect">
            <a:avLst/>
          </a:prstGeom>
          <a:solidFill>
            <a:srgbClr val="5B9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improve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2396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they can act 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money?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0" strike="sngStrike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r>
              <a:rPr lang="en-US" sz="30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$0.99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year</a:t>
            </a:r>
            <a:r>
              <a:rPr lang="en-US" sz="3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 mandatory subscription, one per student and per professor.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234440" y="4251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28346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0" y="4251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in revenue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03920" y="28346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hrs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823960" y="4251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grading saved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 a year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back </a:t>
            </a:r>
            <a:r>
              <a:rPr lang="en-US" sz="22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hours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professor's time — per student. The math sells itself.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verified with </a:t>
            </a:r>
            <a:r>
              <a:rPr lang="en-US" sz="36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Subtitle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moment they sign in with their university Gmail — no biometric hardware, no per-scan fees.</a:t>
            </a:r>
            <a:endParaRPr lang="en-US" sz="2200" dirty="0"/>
          </a:p>
        </p:txBody>
      </p:sp>
      <p:sp>
        <p:nvSpPr>
          <p:cNvPr id="4" name="Card Mechanism"/>
          <p:cNvSpPr/>
          <p:nvPr/>
        </p:nvSpPr>
        <p:spPr>
          <a:xfrm>
            <a:off x="411480" y="3063240"/>
            <a:ext cx="6797040" cy="3017520"/>
          </a:xfrm>
          <a:prstGeom prst="roundRect">
            <a:avLst>
              <a:gd name="adj" fmla="val 3529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5" name="Icon Circle Mechanism"/>
          <p:cNvSpPr/>
          <p:nvPr/>
        </p:nvSpPr>
        <p:spPr>
          <a:xfrm>
            <a:off x="1280160" y="3246120"/>
            <a:ext cx="548640" cy="5486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6" name="Icon Glyph Mechanism"/>
          <p:cNvSpPr/>
          <p:nvPr/>
        </p:nvSpPr>
        <p:spPr>
          <a:xfrm>
            <a:off x="12801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400" dirty="0"/>
          </a:p>
        </p:txBody>
      </p:sp>
      <p:sp>
        <p:nvSpPr>
          <p:cNvPr id="7" name="Header Mechanism"/>
          <p:cNvSpPr/>
          <p:nvPr/>
        </p:nvSpPr>
        <p:spPr>
          <a:xfrm>
            <a:off x="2011680" y="3246120"/>
            <a:ext cx="533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sign-in. Every role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Description Mechanism"/>
          <p:cNvSpPr/>
          <p:nvPr/>
        </p:nvSpPr>
        <p:spPr>
          <a:xfrm>
            <a:off x="1280160" y="3886200"/>
            <a:ext cx="606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9" name="Mini Icon Students"/>
          <p:cNvSpPr/>
          <p:nvPr/>
        </p:nvSpPr>
        <p:spPr>
          <a:xfrm>
            <a:off x="1188720" y="4617720"/>
            <a:ext cx="502920" cy="53721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0" name="Mini Check Students"/>
          <p:cNvSpPr/>
          <p:nvPr/>
        </p:nvSpPr>
        <p:spPr>
          <a:xfrm>
            <a:off x="1051560" y="45720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Mini Label Students"/>
          <p:cNvSpPr/>
          <p:nvPr/>
        </p:nvSpPr>
        <p:spPr>
          <a:xfrm>
            <a:off x="1783080" y="4754880"/>
            <a:ext cx="239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2800" dirty="0"/>
          </a:p>
        </p:txBody>
      </p:sp>
      <p:sp>
        <p:nvSpPr>
          <p:cNvPr id="12" name="Mini Description Students"/>
          <p:cNvSpPr/>
          <p:nvPr/>
        </p:nvSpPr>
        <p:spPr>
          <a:xfrm>
            <a:off x="1280160" y="5189220"/>
            <a:ext cx="2895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3" name="Mini Icon Professors"/>
          <p:cNvSpPr/>
          <p:nvPr/>
        </p:nvSpPr>
        <p:spPr>
          <a:xfrm>
            <a:off x="4450080" y="4572000"/>
            <a:ext cx="502920" cy="5486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4" name="Mini Check Professors"/>
          <p:cNvSpPr/>
          <p:nvPr/>
        </p:nvSpPr>
        <p:spPr>
          <a:xfrm>
            <a:off x="4450080" y="4572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Mini Label Professors"/>
          <p:cNvSpPr/>
          <p:nvPr/>
        </p:nvSpPr>
        <p:spPr>
          <a:xfrm>
            <a:off x="5135880" y="4572000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2800" dirty="0"/>
          </a:p>
        </p:txBody>
      </p:sp>
      <p:sp>
        <p:nvSpPr>
          <p:cNvPr id="16" name="Mini Description Professors"/>
          <p:cNvSpPr/>
          <p:nvPr/>
        </p:nvSpPr>
        <p:spPr>
          <a:xfrm>
            <a:off x="4450080" y="5189220"/>
            <a:ext cx="2895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7" name="Card Savings"/>
          <p:cNvSpPr/>
          <p:nvPr/>
        </p:nvSpPr>
        <p:spPr>
          <a:xfrm>
            <a:off x="7985760" y="2926080"/>
            <a:ext cx="3291840" cy="3017520"/>
          </a:xfrm>
          <a:prstGeom prst="roundRect">
            <a:avLst>
              <a:gd name="adj" fmla="val 3529"/>
            </a:avLst>
          </a:prstGeom>
          <a:solidFill>
            <a:srgbClr val="141519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18" name="Savings Stat"/>
          <p:cNvSpPr/>
          <p:nvPr/>
        </p:nvSpPr>
        <p:spPr>
          <a:xfrm>
            <a:off x="8305800" y="3337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7000" dirty="0"/>
          </a:p>
        </p:txBody>
      </p:sp>
      <p:sp>
        <p:nvSpPr>
          <p:cNvPr id="19" name="Savings Label"/>
          <p:cNvSpPr/>
          <p:nvPr/>
        </p:nvSpPr>
        <p:spPr>
          <a:xfrm>
            <a:off x="83058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cost</a:t>
            </a:r>
            <a:endParaRPr lang="en-US" sz="2800" dirty="0"/>
          </a:p>
        </p:txBody>
      </p:sp>
      <p:sp>
        <p:nvSpPr>
          <p:cNvPr id="20" name="Savings Tagline"/>
          <p:cNvSpPr/>
          <p:nvPr/>
        </p:nvSpPr>
        <p:spPr>
          <a:xfrm>
            <a:off x="8305800" y="4846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/>
          </a:prstGeom>
          <a:ln w="12700">
            <a:solidFill>
              <a:srgbClr val="2F6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Intellectus</a:t>
            </a:r>
            <a:r>
              <a:rPr lang="en-US" sz="8000" b="1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so much for your attention.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288</Words>
  <Application>Microsoft Office PowerPoint</Application>
  <PresentationFormat>Widescreen</PresentationFormat>
  <Paragraphs>71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ava chen</cp:lastModifiedBy>
  <cp:revision>3</cp:revision>
  <dcterms:created xsi:type="dcterms:W3CDTF">2026-06-26T00:13:57Z</dcterms:created>
  <dcterms:modified xsi:type="dcterms:W3CDTF">2026-06-27T08:57:33Z</dcterms:modified>
</cp:coreProperties>
</file>